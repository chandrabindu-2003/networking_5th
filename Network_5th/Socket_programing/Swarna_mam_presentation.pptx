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2" Target="../media/image10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9.pn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3417" y="5860304"/>
            <a:ext cx="14099416" cy="14099416"/>
          </a:xfrm>
          <a:custGeom>
            <a:avLst/>
            <a:gdLst/>
            <a:ahLst/>
            <a:cxnLst/>
            <a:rect r="r" b="b" t="t" l="l"/>
            <a:pathLst>
              <a:path h="14099416" w="14099416">
                <a:moveTo>
                  <a:pt x="0" y="0"/>
                </a:moveTo>
                <a:lnTo>
                  <a:pt x="14099416" y="0"/>
                </a:lnTo>
                <a:lnTo>
                  <a:pt x="14099416" y="14099416"/>
                </a:lnTo>
                <a:lnTo>
                  <a:pt x="0" y="1409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1331" y="1516108"/>
            <a:ext cx="13621794" cy="197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8"/>
              </a:lnSpc>
            </a:pPr>
            <a:r>
              <a:rPr lang="en-US" sz="5556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UDP-Bas</a:t>
            </a:r>
            <a:r>
              <a:rPr lang="en-US" sz="5556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ed Multimedia Streaming Client-Server Application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31446" y="-3906386"/>
            <a:ext cx="8113106" cy="8113106"/>
          </a:xfrm>
          <a:custGeom>
            <a:avLst/>
            <a:gdLst/>
            <a:ahLst/>
            <a:cxnLst/>
            <a:rect r="r" b="b" t="t" l="l"/>
            <a:pathLst>
              <a:path h="8113106" w="8113106">
                <a:moveTo>
                  <a:pt x="0" y="0"/>
                </a:moveTo>
                <a:lnTo>
                  <a:pt x="8113107" y="0"/>
                </a:lnTo>
                <a:lnTo>
                  <a:pt x="8113107" y="8113107"/>
                </a:lnTo>
                <a:lnTo>
                  <a:pt x="0" y="8113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7857" y="-643475"/>
            <a:ext cx="1286950" cy="1286950"/>
          </a:xfrm>
          <a:custGeom>
            <a:avLst/>
            <a:gdLst/>
            <a:ahLst/>
            <a:cxnLst/>
            <a:rect r="r" b="b" t="t" l="l"/>
            <a:pathLst>
              <a:path h="1286950" w="1286950">
                <a:moveTo>
                  <a:pt x="0" y="0"/>
                </a:moveTo>
                <a:lnTo>
                  <a:pt x="1286950" y="0"/>
                </a:lnTo>
                <a:lnTo>
                  <a:pt x="1286950" y="1286950"/>
                </a:lnTo>
                <a:lnTo>
                  <a:pt x="0" y="128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117982" y="6200783"/>
            <a:ext cx="8996960" cy="8113106"/>
          </a:xfrm>
          <a:custGeom>
            <a:avLst/>
            <a:gdLst/>
            <a:ahLst/>
            <a:cxnLst/>
            <a:rect r="r" b="b" t="t" l="l"/>
            <a:pathLst>
              <a:path h="8113106" w="8996960">
                <a:moveTo>
                  <a:pt x="0" y="0"/>
                </a:moveTo>
                <a:lnTo>
                  <a:pt x="8996960" y="0"/>
                </a:lnTo>
                <a:lnTo>
                  <a:pt x="8996960" y="8113107"/>
                </a:lnTo>
                <a:lnTo>
                  <a:pt x="0" y="8113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34150" y="7964509"/>
            <a:ext cx="8779632" cy="1733977"/>
            <a:chOff x="0" y="0"/>
            <a:chExt cx="11706176" cy="23119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6225" cy="2311908"/>
            </a:xfrm>
            <a:custGeom>
              <a:avLst/>
              <a:gdLst/>
              <a:ahLst/>
              <a:cxnLst/>
              <a:rect r="r" b="b" t="t" l="l"/>
              <a:pathLst>
                <a:path h="2311908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2311908"/>
                  </a:lnTo>
                  <a:lnTo>
                    <a:pt x="0" y="2311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33" r="0" b="-13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30617" y="4476843"/>
            <a:ext cx="9133772" cy="400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</a:pPr>
            <a:r>
              <a:rPr lang="en-US" sz="3753" spc="-7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Course-Code: CCE 314</a:t>
            </a:r>
          </a:p>
          <a:p>
            <a:pPr algn="l">
              <a:lnSpc>
                <a:spcPts val="5255"/>
              </a:lnSpc>
            </a:pPr>
            <a:r>
              <a:rPr lang="en-US" b="true" sz="3753" spc="-74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Udita Sarkar Chandrabindu</a:t>
            </a:r>
          </a:p>
          <a:p>
            <a:pPr algn="l">
              <a:lnSpc>
                <a:spcPts val="5255"/>
              </a:lnSpc>
            </a:pPr>
            <a:r>
              <a:rPr lang="en-US" sz="3753" spc="-7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Id 2002006  Reg 10133</a:t>
            </a:r>
          </a:p>
          <a:p>
            <a:pPr algn="l">
              <a:lnSpc>
                <a:spcPts val="5255"/>
              </a:lnSpc>
            </a:pPr>
            <a:r>
              <a:rPr lang="en-US" sz="3753" spc="-7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Semester -B.Sc. CSE, 5th Semester</a:t>
            </a:r>
          </a:p>
          <a:p>
            <a:pPr algn="l">
              <a:lnSpc>
                <a:spcPts val="5255"/>
              </a:lnSpc>
            </a:pPr>
            <a:r>
              <a:rPr lang="en-US" sz="3753" spc="-7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Date-23 Nov,2025</a:t>
            </a:r>
          </a:p>
          <a:p>
            <a:pPr algn="l">
              <a:lnSpc>
                <a:spcPts val="525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43500"/>
            <a:chOff x="0" y="0"/>
            <a:chExt cx="24384000" cy="685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7777" r="0" b="-12777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88217" y="9113639"/>
            <a:ext cx="18476217" cy="1173361"/>
          </a:xfrm>
          <a:custGeom>
            <a:avLst/>
            <a:gdLst/>
            <a:ahLst/>
            <a:cxnLst/>
            <a:rect r="r" b="b" t="t" l="l"/>
            <a:pathLst>
              <a:path h="1173361" w="18476217">
                <a:moveTo>
                  <a:pt x="0" y="0"/>
                </a:moveTo>
                <a:lnTo>
                  <a:pt x="18476217" y="0"/>
                </a:lnTo>
                <a:lnTo>
                  <a:pt x="18476217" y="1173361"/>
                </a:lnTo>
                <a:lnTo>
                  <a:pt x="0" y="1173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13287" y="2445895"/>
            <a:ext cx="13824049" cy="5250548"/>
          </a:xfrm>
          <a:custGeom>
            <a:avLst/>
            <a:gdLst/>
            <a:ahLst/>
            <a:cxnLst/>
            <a:rect r="r" b="b" t="t" l="l"/>
            <a:pathLst>
              <a:path h="5250548" w="13824049">
                <a:moveTo>
                  <a:pt x="0" y="0"/>
                </a:moveTo>
                <a:lnTo>
                  <a:pt x="13824049" y="0"/>
                </a:lnTo>
                <a:lnTo>
                  <a:pt x="13824049" y="5250548"/>
                </a:lnTo>
                <a:lnTo>
                  <a:pt x="0" y="5250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9508" y="3166487"/>
            <a:ext cx="13071660" cy="368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8"/>
              </a:lnSpc>
            </a:pPr>
            <a:r>
              <a:rPr lang="en-US" b="true" sz="4148" spc="-8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🔌</a:t>
            </a:r>
            <a:r>
              <a:rPr lang="en-US" b="true" sz="4148" spc="-8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What is a Socket?</a:t>
            </a:r>
          </a:p>
          <a:p>
            <a:pPr algn="just">
              <a:lnSpc>
                <a:spcPts val="5807"/>
              </a:lnSpc>
            </a:pPr>
            <a:r>
              <a:rPr lang="en-US" b="true" sz="4148" spc="-7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 socket is an endpoint in a network connection.</a:t>
            </a:r>
          </a:p>
          <a:p>
            <a:pPr algn="just">
              <a:lnSpc>
                <a:spcPts val="5808"/>
              </a:lnSpc>
            </a:pPr>
            <a:r>
              <a:rPr lang="en-US" b="true" sz="4148" spc="-81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connects two programs over a network (LAN, WAN, Internet).</a:t>
            </a:r>
          </a:p>
          <a:p>
            <a:pPr algn="just" marL="895554" indent="-447777" lvl="1">
              <a:lnSpc>
                <a:spcPts val="5807"/>
              </a:lnSpc>
              <a:buFont typeface="Arial"/>
              <a:buChar char="•"/>
            </a:pPr>
            <a:r>
              <a:rPr lang="en-US" b="true" sz="4148" spc="-81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It allows them to send and receive data.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73719" y="-5096355"/>
            <a:ext cx="10192709" cy="10192709"/>
          </a:xfrm>
          <a:custGeom>
            <a:avLst/>
            <a:gdLst/>
            <a:ahLst/>
            <a:cxnLst/>
            <a:rect r="r" b="b" t="t" l="l"/>
            <a:pathLst>
              <a:path h="10192709" w="10192709">
                <a:moveTo>
                  <a:pt x="0" y="0"/>
                </a:moveTo>
                <a:lnTo>
                  <a:pt x="10192710" y="0"/>
                </a:lnTo>
                <a:lnTo>
                  <a:pt x="10192710" y="10192710"/>
                </a:lnTo>
                <a:lnTo>
                  <a:pt x="0" y="1019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9603" y="1122782"/>
            <a:ext cx="7019697" cy="10556306"/>
          </a:xfrm>
          <a:custGeom>
            <a:avLst/>
            <a:gdLst/>
            <a:ahLst/>
            <a:cxnLst/>
            <a:rect r="r" b="b" t="t" l="l"/>
            <a:pathLst>
              <a:path h="10556306" w="7019697">
                <a:moveTo>
                  <a:pt x="0" y="0"/>
                </a:moveTo>
                <a:lnTo>
                  <a:pt x="7019697" y="0"/>
                </a:lnTo>
                <a:lnTo>
                  <a:pt x="7019697" y="10556306"/>
                </a:lnTo>
                <a:lnTo>
                  <a:pt x="0" y="10556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18778" y="1464283"/>
            <a:ext cx="6261345" cy="6261345"/>
            <a:chOff x="0" y="0"/>
            <a:chExt cx="8348460" cy="8348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48472" cy="8348472"/>
            </a:xfrm>
            <a:custGeom>
              <a:avLst/>
              <a:gdLst/>
              <a:ahLst/>
              <a:cxnLst/>
              <a:rect r="r" b="b" t="t" l="l"/>
              <a:pathLst>
                <a:path h="8348472" w="8348472">
                  <a:moveTo>
                    <a:pt x="4173601" y="8348472"/>
                  </a:moveTo>
                  <a:cubicBezTo>
                    <a:pt x="1873123" y="8348472"/>
                    <a:pt x="0" y="6475349"/>
                    <a:pt x="0" y="4173601"/>
                  </a:cubicBezTo>
                  <a:cubicBezTo>
                    <a:pt x="0" y="1871853"/>
                    <a:pt x="1873123" y="0"/>
                    <a:pt x="4173601" y="0"/>
                  </a:cubicBezTo>
                  <a:cubicBezTo>
                    <a:pt x="6474079" y="0"/>
                    <a:pt x="8348472" y="1873123"/>
                    <a:pt x="8348472" y="4173601"/>
                  </a:cubicBezTo>
                  <a:cubicBezTo>
                    <a:pt x="8348472" y="6474079"/>
                    <a:pt x="6475349" y="8348472"/>
                    <a:pt x="4173601" y="8348472"/>
                  </a:cubicBezTo>
                  <a:close/>
                  <a:moveTo>
                    <a:pt x="4173601" y="17907"/>
                  </a:moveTo>
                  <a:cubicBezTo>
                    <a:pt x="1882648" y="17907"/>
                    <a:pt x="17907" y="1882648"/>
                    <a:pt x="17907" y="4173601"/>
                  </a:cubicBezTo>
                  <a:cubicBezTo>
                    <a:pt x="17907" y="6464554"/>
                    <a:pt x="1882648" y="8329422"/>
                    <a:pt x="4173601" y="8329422"/>
                  </a:cubicBezTo>
                  <a:cubicBezTo>
                    <a:pt x="6464554" y="8329422"/>
                    <a:pt x="8329422" y="6464681"/>
                    <a:pt x="8329422" y="4173601"/>
                  </a:cubicBezTo>
                  <a:cubicBezTo>
                    <a:pt x="8329422" y="1882521"/>
                    <a:pt x="6465824" y="17907"/>
                    <a:pt x="4173601" y="179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723268" y="1568773"/>
            <a:ext cx="6051473" cy="6051473"/>
            <a:chOff x="0" y="0"/>
            <a:chExt cx="8068630" cy="8068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68691" cy="8068564"/>
            </a:xfrm>
            <a:custGeom>
              <a:avLst/>
              <a:gdLst/>
              <a:ahLst/>
              <a:cxnLst/>
              <a:rect r="r" b="b" t="t" l="l"/>
              <a:pathLst>
                <a:path h="8068564" w="8068691">
                  <a:moveTo>
                    <a:pt x="8068691" y="4034282"/>
                  </a:moveTo>
                  <a:cubicBezTo>
                    <a:pt x="8068691" y="6262243"/>
                    <a:pt x="6262243" y="8068564"/>
                    <a:pt x="4034409" y="8068564"/>
                  </a:cubicBezTo>
                  <a:cubicBezTo>
                    <a:pt x="1806575" y="8068564"/>
                    <a:pt x="0" y="6263386"/>
                    <a:pt x="0" y="4034282"/>
                  </a:cubicBezTo>
                  <a:cubicBezTo>
                    <a:pt x="0" y="1805178"/>
                    <a:pt x="1806448" y="0"/>
                    <a:pt x="4034282" y="0"/>
                  </a:cubicBezTo>
                  <a:cubicBezTo>
                    <a:pt x="6262116" y="0"/>
                    <a:pt x="8068691" y="1806448"/>
                    <a:pt x="8068691" y="4034282"/>
                  </a:cubicBezTo>
                  <a:close/>
                </a:path>
              </a:pathLst>
            </a:custGeom>
            <a:blipFill>
              <a:blip r:embed="rId6"/>
              <a:stretch>
                <a:fillRect l="-41215" t="0" r="-4121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8345" y="2197550"/>
            <a:ext cx="74193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Types of Addressing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5291" y="3759633"/>
            <a:ext cx="9230897" cy="474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3"/>
              </a:lnSpc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socket is identified by:</a:t>
            </a:r>
          </a:p>
          <a:p>
            <a:pPr algn="l" marL="726932" indent="-363466" lvl="1">
              <a:lnSpc>
                <a:spcPts val="4713"/>
              </a:lnSpc>
              <a:buFont typeface="Arial"/>
              <a:buChar char="•"/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 address (location of device)</a:t>
            </a:r>
          </a:p>
          <a:p>
            <a:pPr algn="l" marL="726932" indent="-363466" lvl="1">
              <a:lnSpc>
                <a:spcPts val="4713"/>
              </a:lnSpc>
              <a:spcBef>
                <a:spcPct val="0"/>
              </a:spcBef>
              <a:buFont typeface="Arial"/>
              <a:buChar char="•"/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ort number (specific application/service on that device)</a:t>
            </a:r>
          </a:p>
          <a:p>
            <a:pPr algn="l">
              <a:lnSpc>
                <a:spcPts val="4713"/>
              </a:lnSpc>
              <a:spcBef>
                <a:spcPct val="0"/>
              </a:spcBef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l">
              <a:lnSpc>
                <a:spcPts val="4713"/>
              </a:lnSpc>
              <a:spcBef>
                <a:spcPct val="0"/>
              </a:spcBef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127.0.0.1:8080</a:t>
            </a:r>
          </a:p>
          <a:p>
            <a:pPr algn="l">
              <a:lnSpc>
                <a:spcPts val="4713"/>
              </a:lnSpc>
              <a:spcBef>
                <a:spcPct val="0"/>
              </a:spcBef>
            </a:pPr>
            <a:r>
              <a:rPr lang="en-US" sz="336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Here → 8080 is the port numb</a:t>
            </a:r>
          </a:p>
          <a:p>
            <a:pPr algn="l">
              <a:lnSpc>
                <a:spcPts val="47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9132" y="1146604"/>
            <a:ext cx="900642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Main App</a:t>
            </a:r>
            <a:r>
              <a:rPr lang="en-US" b="true" sz="45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lications of Sockets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5139" y="2701113"/>
            <a:ext cx="8491121" cy="535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Web browsing (HTTP/HTTPS)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File transfer (FTP/SFTP)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Streaming (video/audio, games — UDP)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Chat applications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Client–server communication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IoT device connectivity</a:t>
            </a:r>
          </a:p>
          <a:p>
            <a:pPr algn="l" marL="654172" indent="-327086" lvl="1">
              <a:lnSpc>
                <a:spcPts val="4241"/>
              </a:lnSpc>
              <a:buFont typeface="Arial"/>
              <a:buChar char="•"/>
            </a:pPr>
            <a:r>
              <a:rPr lang="en-US" sz="3029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Remote login (SSH)</a:t>
            </a:r>
          </a:p>
          <a:p>
            <a:pPr algn="l" marL="654172" indent="-327086" lvl="1">
              <a:lnSpc>
                <a:spcPts val="4243"/>
              </a:lnSpc>
              <a:buFont typeface="Arial"/>
              <a:buChar char="•"/>
            </a:pPr>
            <a:r>
              <a:rPr lang="en-US" sz="3029" spc="-5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Networking projects &amp; simulations</a:t>
            </a:r>
          </a:p>
          <a:p>
            <a:pPr algn="l">
              <a:lnSpc>
                <a:spcPts val="424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966260" y="300130"/>
            <a:ext cx="8027982" cy="9598848"/>
            <a:chOff x="0" y="0"/>
            <a:chExt cx="10703976" cy="127984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7" y="0"/>
              <a:ext cx="10703948" cy="12798425"/>
            </a:xfrm>
            <a:custGeom>
              <a:avLst/>
              <a:gdLst/>
              <a:ahLst/>
              <a:cxnLst/>
              <a:rect r="r" b="b" t="t" l="l"/>
              <a:pathLst>
                <a:path h="12798425" w="10703948">
                  <a:moveTo>
                    <a:pt x="10703948" y="12754356"/>
                  </a:moveTo>
                  <a:cubicBezTo>
                    <a:pt x="10703948" y="12795631"/>
                    <a:pt x="10690613" y="12798425"/>
                    <a:pt x="10656069" y="12798425"/>
                  </a:cubicBezTo>
                  <a:cubicBezTo>
                    <a:pt x="7104514" y="12797663"/>
                    <a:pt x="3553213" y="12797663"/>
                    <a:pt x="1658" y="12797663"/>
                  </a:cubicBezTo>
                  <a:cubicBezTo>
                    <a:pt x="-3422" y="12780391"/>
                    <a:pt x="4452" y="12764770"/>
                    <a:pt x="8135" y="12748895"/>
                  </a:cubicBezTo>
                  <a:cubicBezTo>
                    <a:pt x="164218" y="12050141"/>
                    <a:pt x="320555" y="11351641"/>
                    <a:pt x="477146" y="10653141"/>
                  </a:cubicBezTo>
                  <a:cubicBezTo>
                    <a:pt x="700412" y="9657080"/>
                    <a:pt x="924059" y="8661400"/>
                    <a:pt x="1147198" y="7665466"/>
                  </a:cubicBezTo>
                  <a:cubicBezTo>
                    <a:pt x="1422788" y="6435471"/>
                    <a:pt x="1697743" y="5205603"/>
                    <a:pt x="1973079" y="3975862"/>
                  </a:cubicBezTo>
                  <a:cubicBezTo>
                    <a:pt x="2252860" y="2726436"/>
                    <a:pt x="2532895" y="1477264"/>
                    <a:pt x="2813565" y="228092"/>
                  </a:cubicBezTo>
                  <a:cubicBezTo>
                    <a:pt x="2830583" y="152146"/>
                    <a:pt x="2841505" y="74295"/>
                    <a:pt x="2869191" y="889"/>
                  </a:cubicBezTo>
                  <a:cubicBezTo>
                    <a:pt x="5464944" y="762"/>
                    <a:pt x="8060697" y="762"/>
                    <a:pt x="10656450" y="0"/>
                  </a:cubicBezTo>
                  <a:cubicBezTo>
                    <a:pt x="10691630" y="0"/>
                    <a:pt x="10703694" y="4318"/>
                    <a:pt x="10703694" y="44577"/>
                  </a:cubicBezTo>
                  <a:cubicBezTo>
                    <a:pt x="10702806" y="4281297"/>
                    <a:pt x="10702806" y="8517890"/>
                    <a:pt x="10703948" y="12754356"/>
                  </a:cubicBezTo>
                  <a:close/>
                </a:path>
              </a:pathLst>
            </a:custGeom>
            <a:blipFill>
              <a:blip r:embed="rId2"/>
              <a:stretch>
                <a:fillRect l="-9783" t="0" r="-978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216125" y="3589632"/>
            <a:ext cx="12916082" cy="12916082"/>
          </a:xfrm>
          <a:custGeom>
            <a:avLst/>
            <a:gdLst/>
            <a:ahLst/>
            <a:cxnLst/>
            <a:rect r="r" b="b" t="t" l="l"/>
            <a:pathLst>
              <a:path h="12916082" w="12916082">
                <a:moveTo>
                  <a:pt x="0" y="0"/>
                </a:moveTo>
                <a:lnTo>
                  <a:pt x="12916081" y="0"/>
                </a:lnTo>
                <a:lnTo>
                  <a:pt x="12916081" y="12916081"/>
                </a:lnTo>
                <a:lnTo>
                  <a:pt x="0" y="1291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4175" y="8410948"/>
            <a:ext cx="11402164" cy="711357"/>
            <a:chOff x="0" y="0"/>
            <a:chExt cx="15202885" cy="948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02915" cy="948436"/>
            </a:xfrm>
            <a:custGeom>
              <a:avLst/>
              <a:gdLst/>
              <a:ahLst/>
              <a:cxnLst/>
              <a:rect r="r" b="b" t="t" l="l"/>
              <a:pathLst>
                <a:path h="948436" w="15202915">
                  <a:moveTo>
                    <a:pt x="0" y="0"/>
                  </a:moveTo>
                  <a:lnTo>
                    <a:pt x="15202915" y="0"/>
                  </a:lnTo>
                  <a:lnTo>
                    <a:pt x="15202915" y="948436"/>
                  </a:lnTo>
                  <a:lnTo>
                    <a:pt x="0" y="948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8709" r="0" b="-10871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00BF6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2204" y="7686324"/>
            <a:ext cx="5841799" cy="1153755"/>
            <a:chOff x="0" y="0"/>
            <a:chExt cx="7789065" cy="1538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89037" cy="1538351"/>
            </a:xfrm>
            <a:custGeom>
              <a:avLst/>
              <a:gdLst/>
              <a:ahLst/>
              <a:cxnLst/>
              <a:rect r="r" b="b" t="t" l="l"/>
              <a:pathLst>
                <a:path h="1538351" w="7789037">
                  <a:moveTo>
                    <a:pt x="0" y="0"/>
                  </a:moveTo>
                  <a:lnTo>
                    <a:pt x="7789037" y="0"/>
                  </a:lnTo>
                  <a:lnTo>
                    <a:pt x="7789037" y="1538351"/>
                  </a:lnTo>
                  <a:lnTo>
                    <a:pt x="0" y="153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3" r="0" b="-1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24860" y="7686324"/>
            <a:ext cx="5841799" cy="1153755"/>
            <a:chOff x="0" y="0"/>
            <a:chExt cx="7789065" cy="15383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9037" cy="1538351"/>
            </a:xfrm>
            <a:custGeom>
              <a:avLst/>
              <a:gdLst/>
              <a:ahLst/>
              <a:cxnLst/>
              <a:rect r="r" b="b" t="t" l="l"/>
              <a:pathLst>
                <a:path h="1538351" w="7789037">
                  <a:moveTo>
                    <a:pt x="0" y="0"/>
                  </a:moveTo>
                  <a:lnTo>
                    <a:pt x="7789037" y="0"/>
                  </a:lnTo>
                  <a:lnTo>
                    <a:pt x="7789037" y="1538351"/>
                  </a:lnTo>
                  <a:lnTo>
                    <a:pt x="0" y="153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3" r="0" b="-13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3997" y="7686324"/>
            <a:ext cx="5841799" cy="1153755"/>
            <a:chOff x="0" y="0"/>
            <a:chExt cx="7789065" cy="1538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89037" cy="1538351"/>
            </a:xfrm>
            <a:custGeom>
              <a:avLst/>
              <a:gdLst/>
              <a:ahLst/>
              <a:cxnLst/>
              <a:rect r="r" b="b" t="t" l="l"/>
              <a:pathLst>
                <a:path h="1538351" w="7789037">
                  <a:moveTo>
                    <a:pt x="0" y="0"/>
                  </a:moveTo>
                  <a:lnTo>
                    <a:pt x="7789037" y="0"/>
                  </a:lnTo>
                  <a:lnTo>
                    <a:pt x="7789037" y="1538351"/>
                  </a:lnTo>
                  <a:lnTo>
                    <a:pt x="0" y="153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3" r="0" b="-13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213997" y="3155449"/>
            <a:ext cx="5841799" cy="5289854"/>
          </a:xfrm>
          <a:custGeom>
            <a:avLst/>
            <a:gdLst/>
            <a:ahLst/>
            <a:cxnLst/>
            <a:rect r="r" b="b" t="t" l="l"/>
            <a:pathLst>
              <a:path h="5289854" w="5841799">
                <a:moveTo>
                  <a:pt x="0" y="0"/>
                </a:moveTo>
                <a:lnTo>
                  <a:pt x="5841799" y="0"/>
                </a:lnTo>
                <a:lnTo>
                  <a:pt x="5841799" y="5289854"/>
                </a:lnTo>
                <a:lnTo>
                  <a:pt x="0" y="5289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24860" y="3155449"/>
            <a:ext cx="5841799" cy="5289854"/>
          </a:xfrm>
          <a:custGeom>
            <a:avLst/>
            <a:gdLst/>
            <a:ahLst/>
            <a:cxnLst/>
            <a:rect r="r" b="b" t="t" l="l"/>
            <a:pathLst>
              <a:path h="5289854" w="5841799">
                <a:moveTo>
                  <a:pt x="0" y="0"/>
                </a:moveTo>
                <a:lnTo>
                  <a:pt x="5841799" y="0"/>
                </a:lnTo>
                <a:lnTo>
                  <a:pt x="5841799" y="5289854"/>
                </a:lnTo>
                <a:lnTo>
                  <a:pt x="0" y="5289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2204" y="3155449"/>
            <a:ext cx="5841799" cy="5289854"/>
          </a:xfrm>
          <a:custGeom>
            <a:avLst/>
            <a:gdLst/>
            <a:ahLst/>
            <a:cxnLst/>
            <a:rect r="r" b="b" t="t" l="l"/>
            <a:pathLst>
              <a:path h="5289854" w="5841799">
                <a:moveTo>
                  <a:pt x="0" y="0"/>
                </a:moveTo>
                <a:lnTo>
                  <a:pt x="5841799" y="0"/>
                </a:lnTo>
                <a:lnTo>
                  <a:pt x="5841799" y="5289854"/>
                </a:lnTo>
                <a:lnTo>
                  <a:pt x="0" y="5289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873719" y="-5096355"/>
            <a:ext cx="10192709" cy="10192709"/>
          </a:xfrm>
          <a:custGeom>
            <a:avLst/>
            <a:gdLst/>
            <a:ahLst/>
            <a:cxnLst/>
            <a:rect r="r" b="b" t="t" l="l"/>
            <a:pathLst>
              <a:path h="10192709" w="10192709">
                <a:moveTo>
                  <a:pt x="0" y="0"/>
                </a:moveTo>
                <a:lnTo>
                  <a:pt x="10192710" y="0"/>
                </a:lnTo>
                <a:lnTo>
                  <a:pt x="10192710" y="10192710"/>
                </a:lnTo>
                <a:lnTo>
                  <a:pt x="0" y="10192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23886" y="5190645"/>
            <a:ext cx="10192709" cy="10192709"/>
          </a:xfrm>
          <a:custGeom>
            <a:avLst/>
            <a:gdLst/>
            <a:ahLst/>
            <a:cxnLst/>
            <a:rect r="r" b="b" t="t" l="l"/>
            <a:pathLst>
              <a:path h="10192709" w="10192709">
                <a:moveTo>
                  <a:pt x="0" y="0"/>
                </a:moveTo>
                <a:lnTo>
                  <a:pt x="10192710" y="0"/>
                </a:lnTo>
                <a:lnTo>
                  <a:pt x="10192710" y="10192710"/>
                </a:lnTo>
                <a:lnTo>
                  <a:pt x="0" y="10192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84604" y="3447950"/>
            <a:ext cx="5570063" cy="3132850"/>
            <a:chOff x="0" y="0"/>
            <a:chExt cx="7426751" cy="41771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26706" cy="4177160"/>
            </a:xfrm>
            <a:custGeom>
              <a:avLst/>
              <a:gdLst/>
              <a:ahLst/>
              <a:cxnLst/>
              <a:rect r="r" b="b" t="t" l="l"/>
              <a:pathLst>
                <a:path h="4177160" w="7426706">
                  <a:moveTo>
                    <a:pt x="0" y="3831971"/>
                  </a:moveTo>
                  <a:lnTo>
                    <a:pt x="0" y="345948"/>
                  </a:lnTo>
                  <a:cubicBezTo>
                    <a:pt x="0" y="154559"/>
                    <a:pt x="154559" y="0"/>
                    <a:pt x="345948" y="0"/>
                  </a:cubicBezTo>
                  <a:lnTo>
                    <a:pt x="7080758" y="0"/>
                  </a:lnTo>
                  <a:cubicBezTo>
                    <a:pt x="7272147" y="0"/>
                    <a:pt x="7426706" y="154559"/>
                    <a:pt x="7426706" y="345948"/>
                  </a:cubicBezTo>
                  <a:lnTo>
                    <a:pt x="7426706" y="3831209"/>
                  </a:lnTo>
                  <a:cubicBezTo>
                    <a:pt x="7426706" y="4022598"/>
                    <a:pt x="7272147" y="4177157"/>
                    <a:pt x="7080758" y="4177157"/>
                  </a:cubicBezTo>
                  <a:lnTo>
                    <a:pt x="345948" y="4177157"/>
                  </a:lnTo>
                  <a:cubicBezTo>
                    <a:pt x="155448" y="4177919"/>
                    <a:pt x="0" y="4023360"/>
                    <a:pt x="0" y="3831971"/>
                  </a:cubicBezTo>
                  <a:close/>
                </a:path>
              </a:pathLst>
            </a:custGeom>
            <a:blipFill>
              <a:blip r:embed="rId7"/>
              <a:stretch>
                <a:fillRect l="0" t="-38897" r="0" b="-3889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2409" y="3576763"/>
            <a:ext cx="5570063" cy="3132850"/>
            <a:chOff x="0" y="0"/>
            <a:chExt cx="7426751" cy="41771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26706" cy="4177160"/>
            </a:xfrm>
            <a:custGeom>
              <a:avLst/>
              <a:gdLst/>
              <a:ahLst/>
              <a:cxnLst/>
              <a:rect r="r" b="b" t="t" l="l"/>
              <a:pathLst>
                <a:path h="4177160" w="7426706">
                  <a:moveTo>
                    <a:pt x="0" y="3831971"/>
                  </a:moveTo>
                  <a:lnTo>
                    <a:pt x="0" y="345948"/>
                  </a:lnTo>
                  <a:cubicBezTo>
                    <a:pt x="0" y="154559"/>
                    <a:pt x="154559" y="0"/>
                    <a:pt x="345948" y="0"/>
                  </a:cubicBezTo>
                  <a:lnTo>
                    <a:pt x="7080758" y="0"/>
                  </a:lnTo>
                  <a:cubicBezTo>
                    <a:pt x="7272147" y="0"/>
                    <a:pt x="7426706" y="154559"/>
                    <a:pt x="7426706" y="345948"/>
                  </a:cubicBezTo>
                  <a:lnTo>
                    <a:pt x="7426706" y="3831209"/>
                  </a:lnTo>
                  <a:cubicBezTo>
                    <a:pt x="7426706" y="4022598"/>
                    <a:pt x="7272147" y="4177157"/>
                    <a:pt x="7080758" y="4177157"/>
                  </a:cubicBezTo>
                  <a:lnTo>
                    <a:pt x="345948" y="4177157"/>
                  </a:lnTo>
                  <a:cubicBezTo>
                    <a:pt x="155448" y="4177919"/>
                    <a:pt x="0" y="4023360"/>
                    <a:pt x="0" y="3831971"/>
                  </a:cubicBezTo>
                  <a:close/>
                </a:path>
              </a:pathLst>
            </a:custGeom>
            <a:blipFill>
              <a:blip r:embed="rId8"/>
              <a:stretch>
                <a:fillRect l="-2216" t="0" r="-221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60414" y="3447950"/>
            <a:ext cx="5570063" cy="3132850"/>
            <a:chOff x="0" y="0"/>
            <a:chExt cx="7426751" cy="4177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26706" cy="4177160"/>
            </a:xfrm>
            <a:custGeom>
              <a:avLst/>
              <a:gdLst/>
              <a:ahLst/>
              <a:cxnLst/>
              <a:rect r="r" b="b" t="t" l="l"/>
              <a:pathLst>
                <a:path h="4177160" w="7426706">
                  <a:moveTo>
                    <a:pt x="0" y="3831971"/>
                  </a:moveTo>
                  <a:lnTo>
                    <a:pt x="0" y="345948"/>
                  </a:lnTo>
                  <a:cubicBezTo>
                    <a:pt x="0" y="154559"/>
                    <a:pt x="154559" y="0"/>
                    <a:pt x="345948" y="0"/>
                  </a:cubicBezTo>
                  <a:lnTo>
                    <a:pt x="7080758" y="0"/>
                  </a:lnTo>
                  <a:cubicBezTo>
                    <a:pt x="7272147" y="0"/>
                    <a:pt x="7426706" y="154559"/>
                    <a:pt x="7426706" y="345948"/>
                  </a:cubicBezTo>
                  <a:lnTo>
                    <a:pt x="7426706" y="3831209"/>
                  </a:lnTo>
                  <a:cubicBezTo>
                    <a:pt x="7426706" y="4022598"/>
                    <a:pt x="7272147" y="4177157"/>
                    <a:pt x="7080758" y="4177157"/>
                  </a:cubicBezTo>
                  <a:lnTo>
                    <a:pt x="345948" y="4177157"/>
                  </a:lnTo>
                  <a:cubicBezTo>
                    <a:pt x="155448" y="4177919"/>
                    <a:pt x="0" y="4023360"/>
                    <a:pt x="0" y="3831971"/>
                  </a:cubicBezTo>
                  <a:close/>
                </a:path>
              </a:pathLst>
            </a:custGeom>
            <a:blipFill>
              <a:blip r:embed="rId9"/>
              <a:stretch>
                <a:fillRect l="0" t="-38897" r="0" b="-3889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417025" y="1800476"/>
            <a:ext cx="7453950" cy="87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5107" b="tru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Language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96821" y="6743553"/>
            <a:ext cx="5297877" cy="157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232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2. V</a:t>
            </a:r>
            <a:r>
              <a:rPr lang="en-US" sz="2232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ersatile and Powerful</a:t>
            </a:r>
          </a:p>
          <a:p>
            <a:pPr algn="ctr" marL="481889" indent="-240944" lvl="1">
              <a:lnSpc>
                <a:spcPts val="3124"/>
              </a:lnSpc>
              <a:buFont typeface="Arial"/>
              <a:buChar char="•"/>
            </a:pPr>
            <a:r>
              <a:rPr lang="en-US" sz="2232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Used in web development, data science, AI/ML, automation, scripting, etc.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5958" y="6743553"/>
            <a:ext cx="5297877" cy="19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229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3. L</a:t>
            </a:r>
            <a:r>
              <a:rPr lang="en-US" sz="2229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arge Library Support</a:t>
            </a:r>
          </a:p>
          <a:p>
            <a:pPr algn="ctr" marL="481241" indent="-240621" lvl="1">
              <a:lnSpc>
                <a:spcPts val="3121"/>
              </a:lnSpc>
              <a:buFont typeface="Arial"/>
              <a:buChar char="•"/>
            </a:pPr>
            <a:r>
              <a:rPr lang="en-US" sz="2229" spc="-4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Huge collection of built-in and external libraries (NumPy, Django, TensorFlow).</a:t>
            </a:r>
          </a:p>
          <a:p>
            <a:pPr algn="ctr">
              <a:lnSpc>
                <a:spcPts val="31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21010" y="6743553"/>
            <a:ext cx="5297877" cy="157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232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1. Ea</a:t>
            </a:r>
            <a:r>
              <a:rPr lang="en-US" sz="2232" spc="-42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sy and Readable</a:t>
            </a:r>
          </a:p>
          <a:p>
            <a:pPr algn="ctr" marL="481889" indent="-240944" lvl="1">
              <a:lnSpc>
                <a:spcPts val="3125"/>
              </a:lnSpc>
              <a:buFont typeface="Arial"/>
              <a:buChar char="•"/>
            </a:pPr>
            <a:r>
              <a:rPr lang="en-US" sz="2232" spc="-4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Simple syntax, beginner-friendly, looks like English.</a:t>
            </a:r>
          </a:p>
          <a:p>
            <a:pPr algn="ctr">
              <a:lnSpc>
                <a:spcPts val="31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00BF6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02273" y="-8767"/>
            <a:ext cx="4907787" cy="10295767"/>
            <a:chOff x="0" y="0"/>
            <a:chExt cx="6543716" cy="1372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43675" cy="13727685"/>
            </a:xfrm>
            <a:custGeom>
              <a:avLst/>
              <a:gdLst/>
              <a:ahLst/>
              <a:cxnLst/>
              <a:rect r="r" b="b" t="t" l="l"/>
              <a:pathLst>
                <a:path h="13727685" w="6543675">
                  <a:moveTo>
                    <a:pt x="0" y="0"/>
                  </a:moveTo>
                  <a:lnTo>
                    <a:pt x="6543675" y="0"/>
                  </a:lnTo>
                  <a:lnTo>
                    <a:pt x="6543675" y="13727685"/>
                  </a:lnTo>
                  <a:lnTo>
                    <a:pt x="0" y="13727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4892" t="0" r="-5489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3708307"/>
            <a:ext cx="14586028" cy="5233568"/>
          </a:xfrm>
          <a:custGeom>
            <a:avLst/>
            <a:gdLst/>
            <a:ahLst/>
            <a:cxnLst/>
            <a:rect r="r" b="b" t="t" l="l"/>
            <a:pathLst>
              <a:path h="5233568" w="14586028">
                <a:moveTo>
                  <a:pt x="0" y="0"/>
                </a:moveTo>
                <a:lnTo>
                  <a:pt x="14586028" y="0"/>
                </a:lnTo>
                <a:lnTo>
                  <a:pt x="14586028" y="5233568"/>
                </a:lnTo>
                <a:lnTo>
                  <a:pt x="0" y="5233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4851" y="4286548"/>
            <a:ext cx="1232553" cy="1232553"/>
          </a:xfrm>
          <a:custGeom>
            <a:avLst/>
            <a:gdLst/>
            <a:ahLst/>
            <a:cxnLst/>
            <a:rect r="r" b="b" t="t" l="l"/>
            <a:pathLst>
              <a:path h="1232553" w="1232553">
                <a:moveTo>
                  <a:pt x="0" y="0"/>
                </a:moveTo>
                <a:lnTo>
                  <a:pt x="1232553" y="0"/>
                </a:lnTo>
                <a:lnTo>
                  <a:pt x="1232553" y="1232553"/>
                </a:lnTo>
                <a:lnTo>
                  <a:pt x="0" y="12325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05199" y="4181637"/>
            <a:ext cx="1077227" cy="1247315"/>
          </a:xfrm>
          <a:custGeom>
            <a:avLst/>
            <a:gdLst/>
            <a:ahLst/>
            <a:cxnLst/>
            <a:rect r="r" b="b" t="t" l="l"/>
            <a:pathLst>
              <a:path h="1247315" w="1077227">
                <a:moveTo>
                  <a:pt x="0" y="0"/>
                </a:moveTo>
                <a:lnTo>
                  <a:pt x="1077227" y="0"/>
                </a:lnTo>
                <a:lnTo>
                  <a:pt x="1077227" y="1247315"/>
                </a:lnTo>
                <a:lnTo>
                  <a:pt x="0" y="1247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81" t="0" r="-38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34954" y="4376697"/>
            <a:ext cx="1361742" cy="1052255"/>
          </a:xfrm>
          <a:custGeom>
            <a:avLst/>
            <a:gdLst/>
            <a:ahLst/>
            <a:cxnLst/>
            <a:rect r="r" b="b" t="t" l="l"/>
            <a:pathLst>
              <a:path h="1052255" w="1361742">
                <a:moveTo>
                  <a:pt x="0" y="0"/>
                </a:moveTo>
                <a:lnTo>
                  <a:pt x="1361742" y="0"/>
                </a:lnTo>
                <a:lnTo>
                  <a:pt x="1361742" y="1052255"/>
                </a:lnTo>
                <a:lnTo>
                  <a:pt x="0" y="10522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211" t="0" r="-221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23886" y="5190645"/>
            <a:ext cx="10192709" cy="10192709"/>
          </a:xfrm>
          <a:custGeom>
            <a:avLst/>
            <a:gdLst/>
            <a:ahLst/>
            <a:cxnLst/>
            <a:rect r="r" b="b" t="t" l="l"/>
            <a:pathLst>
              <a:path h="10192709" w="10192709">
                <a:moveTo>
                  <a:pt x="0" y="0"/>
                </a:moveTo>
                <a:lnTo>
                  <a:pt x="10192710" y="0"/>
                </a:lnTo>
                <a:lnTo>
                  <a:pt x="10192710" y="10192710"/>
                </a:lnTo>
                <a:lnTo>
                  <a:pt x="0" y="101927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0420" y="1940249"/>
            <a:ext cx="10371239" cy="11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8"/>
              </a:lnSpc>
            </a:pPr>
            <a:r>
              <a:rPr lang="en-US" b="true" sz="6612" spc="-131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 Framework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5156" y="6852355"/>
            <a:ext cx="4161784" cy="17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</a:p>
          <a:p>
            <a:pPr algn="ctr" marL="425971" indent="-212985" lvl="1">
              <a:lnSpc>
                <a:spcPts val="2763"/>
              </a:lnSpc>
              <a:buFont typeface="Arial"/>
              <a:buChar char="•"/>
            </a:pPr>
            <a:r>
              <a:rPr lang="en-US" sz="1972" spc="-38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Frameworks like Django and Flask help build websites and web apps quickly.</a:t>
            </a:r>
          </a:p>
          <a:p>
            <a:pPr algn="ctr">
              <a:lnSpc>
                <a:spcPts val="276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69568" y="5699584"/>
            <a:ext cx="2730198" cy="9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Web Dev</a:t>
            </a: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0822" y="6852355"/>
            <a:ext cx="4161784" cy="17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</a:p>
          <a:p>
            <a:pPr algn="ctr" marL="425971" indent="-212985" lvl="1">
              <a:lnSpc>
                <a:spcPts val="2763"/>
              </a:lnSpc>
              <a:buFont typeface="Arial"/>
              <a:buChar char="•"/>
            </a:pPr>
            <a:r>
              <a:rPr lang="en-US" sz="1972" spc="-38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Provide pre-written code, libraries, and tools to reduce development time.</a:t>
            </a:r>
          </a:p>
          <a:p>
            <a:pPr algn="ctr">
              <a:lnSpc>
                <a:spcPts val="276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206085" y="5724489"/>
            <a:ext cx="2348490" cy="9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Simplify</a:t>
            </a: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 Coding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10979" y="6852355"/>
            <a:ext cx="4161784" cy="172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</a:pPr>
          </a:p>
          <a:p>
            <a:pPr algn="ctr" marL="425971" indent="-212985" lvl="1">
              <a:lnSpc>
                <a:spcPts val="2763"/>
              </a:lnSpc>
              <a:buFont typeface="Arial"/>
              <a:buChar char="•"/>
            </a:pPr>
            <a:r>
              <a:rPr lang="en-US" sz="1972" spc="-38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Some frameworks focus on data science (e.g., TensorFlow, PyTorch) .</a:t>
            </a:r>
          </a:p>
          <a:p>
            <a:pPr algn="ctr">
              <a:lnSpc>
                <a:spcPts val="276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863730" y="5724489"/>
            <a:ext cx="2348490" cy="9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685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pecialized Purposes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8912" y="-144661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8912" y="9385380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9" t="0" r="-6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43096" y="3151974"/>
            <a:ext cx="14853581" cy="527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</a:p>
          <a:p>
            <a:pPr algn="l" marL="533919" indent="-266959" lvl="1">
              <a:lnSpc>
                <a:spcPts val="3462"/>
              </a:lnSpc>
              <a:buAutoNum type="arabicPeriod" startAt="1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Connectionless Communication</a:t>
            </a:r>
          </a:p>
          <a:p>
            <a:pPr algn="l" marL="1067837" indent="-355946" lvl="2">
              <a:lnSpc>
                <a:spcPts val="3462"/>
              </a:lnSpc>
              <a:spcBef>
                <a:spcPct val="0"/>
              </a:spcBef>
              <a:buFont typeface="Arial"/>
              <a:buChar char="⚬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UDP sockets (n</a:t>
            </a: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connection setup) for client-server streaming.</a:t>
            </a:r>
          </a:p>
          <a:p>
            <a:pPr algn="l" marL="533919" indent="-266959" lvl="1">
              <a:lnSpc>
                <a:spcPts val="3462"/>
              </a:lnSpc>
              <a:spcBef>
                <a:spcPct val="0"/>
              </a:spcBef>
              <a:buAutoNum type="arabicPeriod" startAt="1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Request &amp; Server Response</a:t>
            </a:r>
          </a:p>
          <a:p>
            <a:pPr algn="l" marL="1067837" indent="-355946" lvl="2">
              <a:lnSpc>
                <a:spcPts val="3462"/>
              </a:lnSpc>
              <a:spcBef>
                <a:spcPct val="0"/>
              </a:spcBef>
              <a:buFont typeface="Arial"/>
              <a:buChar char="⚬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requests a multimedia file.</a:t>
            </a:r>
          </a:p>
          <a:p>
            <a:pPr algn="l" marL="1067837" indent="-355946" lvl="2">
              <a:lnSpc>
                <a:spcPts val="3462"/>
              </a:lnSpc>
              <a:spcBef>
                <a:spcPct val="0"/>
              </a:spcBef>
              <a:buFont typeface="Arial"/>
              <a:buChar char="⚬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reads the file in random chunks of 1000–2000 bytes and sends them as datagrams.</a:t>
            </a:r>
          </a:p>
          <a:p>
            <a:pPr algn="l" marL="533919" indent="-266959" lvl="1">
              <a:lnSpc>
                <a:spcPts val="3462"/>
              </a:lnSpc>
              <a:spcBef>
                <a:spcPct val="0"/>
              </a:spcBef>
              <a:buAutoNum type="arabicPeriod" startAt="1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Streaming While Downloading</a:t>
            </a:r>
          </a:p>
          <a:p>
            <a:pPr algn="l" marL="1067837" indent="-355946" lvl="2">
              <a:lnSpc>
                <a:spcPts val="3462"/>
              </a:lnSpc>
              <a:spcBef>
                <a:spcPct val="0"/>
              </a:spcBef>
              <a:buFont typeface="Arial"/>
              <a:buChar char="⚬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receives datagrams and can start playing the media as soon as enough data is available.</a:t>
            </a:r>
          </a:p>
          <a:p>
            <a:pPr algn="l" marL="533919" indent="-266959" lvl="1">
              <a:lnSpc>
                <a:spcPts val="3462"/>
              </a:lnSpc>
              <a:spcBef>
                <a:spcPct val="0"/>
              </a:spcBef>
              <a:buAutoNum type="arabicPeriod" startAt="1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Handling Last Packet</a:t>
            </a:r>
          </a:p>
          <a:p>
            <a:pPr algn="l" marL="1067837" indent="-355946" lvl="2">
              <a:lnSpc>
                <a:spcPts val="3462"/>
              </a:lnSpc>
              <a:spcBef>
                <a:spcPct val="0"/>
              </a:spcBef>
              <a:buFont typeface="Arial"/>
              <a:buChar char="⚬"/>
            </a:pPr>
            <a:r>
              <a:rPr lang="en-US" sz="247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last datagram may be smaller than 1000 bytes if remaining data is less.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61063" y="1323561"/>
            <a:ext cx="12487945" cy="94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2"/>
              </a:lnSpc>
              <a:spcBef>
                <a:spcPct val="0"/>
              </a:spcBef>
            </a:pPr>
            <a:r>
              <a:rPr lang="en-US" b="true" sz="5272" spc="-1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Main P</a:t>
            </a:r>
            <a:r>
              <a:rPr lang="en-US" b="true" sz="5272" spc="-1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oints of the Problem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8912" y="-144661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8912" y="9385380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9" t="0" r="-6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5780" y="1242846"/>
            <a:ext cx="5681809" cy="8378077"/>
          </a:xfrm>
          <a:custGeom>
            <a:avLst/>
            <a:gdLst/>
            <a:ahLst/>
            <a:cxnLst/>
            <a:rect r="r" b="b" t="t" l="l"/>
            <a:pathLst>
              <a:path h="8378077" w="5681809">
                <a:moveTo>
                  <a:pt x="0" y="0"/>
                </a:moveTo>
                <a:lnTo>
                  <a:pt x="5681809" y="0"/>
                </a:lnTo>
                <a:lnTo>
                  <a:pt x="5681809" y="8378077"/>
                </a:lnTo>
                <a:lnTo>
                  <a:pt x="0" y="8378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1" t="0" r="-120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680759"/>
            <a:ext cx="5013819" cy="923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  <a:spcBef>
                <a:spcPct val="0"/>
              </a:spcBef>
            </a:pP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Setup: Creates a UDP socket and binds it to 0.0.0.0:9999.</a:t>
            </a: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Listening for Clients: Waits for client datagrams and gets their address.</a:t>
            </a: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Threaded Handling: Each client request is handled in a separate thread.</a:t>
            </a: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File Streaming: Reads the requested file in random chunks (1000–2000 bytes) and sends each as a UDP datagram.</a:t>
            </a: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 of Stream: Sends EOF to indicate file transmission is complete.</a:t>
            </a:r>
          </a:p>
          <a:p>
            <a:pPr algn="l" marL="512329" indent="-256165" lvl="1">
              <a:lnSpc>
                <a:spcPts val="3322"/>
              </a:lnSpc>
              <a:spcBef>
                <a:spcPct val="0"/>
              </a:spcBef>
              <a:buAutoNum type="arabicPeriod" startAt="1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 Handling: Sends ERROR if the requested file does not exist.</a:t>
            </a:r>
          </a:p>
          <a:p>
            <a:pPr algn="l">
              <a:lnSpc>
                <a:spcPts val="33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8912" y="-144661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8912" y="9385380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9" t="0" r="-6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14965" y="397992"/>
            <a:ext cx="6584903" cy="7201921"/>
          </a:xfrm>
          <a:custGeom>
            <a:avLst/>
            <a:gdLst/>
            <a:ahLst/>
            <a:cxnLst/>
            <a:rect r="r" b="b" t="t" l="l"/>
            <a:pathLst>
              <a:path h="7201921" w="6584903">
                <a:moveTo>
                  <a:pt x="0" y="0"/>
                </a:moveTo>
                <a:lnTo>
                  <a:pt x="6584903" y="0"/>
                </a:lnTo>
                <a:lnTo>
                  <a:pt x="6584903" y="7201921"/>
                </a:lnTo>
                <a:lnTo>
                  <a:pt x="0" y="7201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509" y="306149"/>
            <a:ext cx="6316151" cy="7351171"/>
          </a:xfrm>
          <a:custGeom>
            <a:avLst/>
            <a:gdLst/>
            <a:ahLst/>
            <a:cxnLst/>
            <a:rect r="r" b="b" t="t" l="l"/>
            <a:pathLst>
              <a:path h="7351171" w="6316151">
                <a:moveTo>
                  <a:pt x="0" y="0"/>
                </a:moveTo>
                <a:lnTo>
                  <a:pt x="6316151" y="0"/>
                </a:lnTo>
                <a:lnTo>
                  <a:pt x="6316151" y="7351171"/>
                </a:lnTo>
                <a:lnTo>
                  <a:pt x="0" y="7351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3" t="0" r="-39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06330" y="397992"/>
            <a:ext cx="7494131" cy="7259328"/>
          </a:xfrm>
          <a:custGeom>
            <a:avLst/>
            <a:gdLst/>
            <a:ahLst/>
            <a:cxnLst/>
            <a:rect r="r" b="b" t="t" l="l"/>
            <a:pathLst>
              <a:path h="7259328" w="7494131">
                <a:moveTo>
                  <a:pt x="0" y="0"/>
                </a:moveTo>
                <a:lnTo>
                  <a:pt x="7494131" y="0"/>
                </a:lnTo>
                <a:lnTo>
                  <a:pt x="7494131" y="7259328"/>
                </a:lnTo>
                <a:lnTo>
                  <a:pt x="0" y="72593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69665" y="8231651"/>
            <a:ext cx="15889635" cy="94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2"/>
              </a:lnSpc>
              <a:spcBef>
                <a:spcPct val="0"/>
              </a:spcBef>
            </a:pPr>
            <a:r>
              <a:rPr lang="en-US" b="true" sz="5272" spc="-1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Here is the raw code of my problem in client side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8912" y="-144661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98912" y="9385380"/>
            <a:ext cx="5889088" cy="901620"/>
          </a:xfrm>
          <a:custGeom>
            <a:avLst/>
            <a:gdLst/>
            <a:ahLst/>
            <a:cxnLst/>
            <a:rect r="r" b="b" t="t" l="l"/>
            <a:pathLst>
              <a:path h="901620" w="5889088">
                <a:moveTo>
                  <a:pt x="0" y="0"/>
                </a:moveTo>
                <a:lnTo>
                  <a:pt x="5889088" y="0"/>
                </a:lnTo>
                <a:lnTo>
                  <a:pt x="5889088" y="901620"/>
                </a:lnTo>
                <a:lnTo>
                  <a:pt x="0" y="90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9" t="0" r="-6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7704" y="696887"/>
            <a:ext cx="5013819" cy="881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ere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poin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ts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UDP 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treaming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code: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 Setup: Initi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lizes a Tki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Box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Allows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 u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type the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 filename; 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rs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Button: 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ets the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re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c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ick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button.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UDP So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UDP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ocket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sets a 5-s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timeout.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Function: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ys mess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in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log 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 co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Re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quest: Sen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ds the requested fil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enam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the server and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itializes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bles.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19440" y="568354"/>
            <a:ext cx="5013819" cy="881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Threaded Streaming: Starts start_streaming in a background thread to avoid freezing GUI.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Server Response Handling: Waits for server reply and checks if file exists.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Receiving Data: Writes incoming UDP datagrams to the output file in binary mode.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Buffer Playback: Allows playback once a reasonable number of bytes (BUFFER_SIZE) is received.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 of Stream: Detects EOF from server and logs streaming completion.</a:t>
            </a:r>
          </a:p>
          <a:p>
            <a:pPr algn="l" marL="512329" indent="-256165" lvl="1">
              <a:lnSpc>
                <a:spcPts val="3322"/>
              </a:lnSpc>
              <a:buFont typeface="Arial"/>
              <a:buChar char="•"/>
            </a:pPr>
            <a:r>
              <a:rPr lang="en-US" sz="2372" spc="-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 Handling: Catches socket timeouts or exceptions and logs errors in the GUI.</a:t>
            </a:r>
          </a:p>
          <a:p>
            <a:pPr algn="l">
              <a:lnSpc>
                <a:spcPts val="332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364" y="696296"/>
            <a:ext cx="15763066" cy="8562004"/>
          </a:xfrm>
          <a:custGeom>
            <a:avLst/>
            <a:gdLst/>
            <a:ahLst/>
            <a:cxnLst/>
            <a:rect r="r" b="b" t="t" l="l"/>
            <a:pathLst>
              <a:path h="8562004" w="15763066">
                <a:moveTo>
                  <a:pt x="0" y="0"/>
                </a:moveTo>
                <a:lnTo>
                  <a:pt x="15763066" y="0"/>
                </a:lnTo>
                <a:lnTo>
                  <a:pt x="15763066" y="8562004"/>
                </a:lnTo>
                <a:lnTo>
                  <a:pt x="0" y="8562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" t="-5187" r="0" b="-9965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940" y="-165888"/>
            <a:ext cx="18609879" cy="10618775"/>
          </a:xfrm>
          <a:custGeom>
            <a:avLst/>
            <a:gdLst/>
            <a:ahLst/>
            <a:cxnLst/>
            <a:rect r="r" b="b" t="t" l="l"/>
            <a:pathLst>
              <a:path h="10618775" w="18609879">
                <a:moveTo>
                  <a:pt x="0" y="0"/>
                </a:moveTo>
                <a:lnTo>
                  <a:pt x="18609879" y="0"/>
                </a:lnTo>
                <a:lnTo>
                  <a:pt x="18609879" y="10618775"/>
                </a:lnTo>
                <a:lnTo>
                  <a:pt x="0" y="10618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97323" y="8211194"/>
            <a:ext cx="4154377" cy="582587"/>
            <a:chOff x="0" y="0"/>
            <a:chExt cx="5539169" cy="776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39232" cy="776732"/>
            </a:xfrm>
            <a:custGeom>
              <a:avLst/>
              <a:gdLst/>
              <a:ahLst/>
              <a:cxnLst/>
              <a:rect r="r" b="b" t="t" l="l"/>
              <a:pathLst>
                <a:path h="776732" w="5539232">
                  <a:moveTo>
                    <a:pt x="0" y="0"/>
                  </a:moveTo>
                  <a:lnTo>
                    <a:pt x="5539232" y="0"/>
                  </a:lnTo>
                  <a:lnTo>
                    <a:pt x="5539232" y="776732"/>
                  </a:lnTo>
                  <a:lnTo>
                    <a:pt x="0" y="77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606" r="1" b="-2061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16016" y="2353299"/>
            <a:ext cx="4316431" cy="6143448"/>
          </a:xfrm>
          <a:custGeom>
            <a:avLst/>
            <a:gdLst/>
            <a:ahLst/>
            <a:cxnLst/>
            <a:rect r="r" b="b" t="t" l="l"/>
            <a:pathLst>
              <a:path h="6143448" w="4316431">
                <a:moveTo>
                  <a:pt x="0" y="0"/>
                </a:moveTo>
                <a:lnTo>
                  <a:pt x="4316431" y="0"/>
                </a:lnTo>
                <a:lnTo>
                  <a:pt x="4316431" y="6143449"/>
                </a:lnTo>
                <a:lnTo>
                  <a:pt x="0" y="6143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53801" y="2359039"/>
            <a:ext cx="4316431" cy="6143448"/>
          </a:xfrm>
          <a:custGeom>
            <a:avLst/>
            <a:gdLst/>
            <a:ahLst/>
            <a:cxnLst/>
            <a:rect r="r" b="b" t="t" l="l"/>
            <a:pathLst>
              <a:path h="6143448" w="4316431">
                <a:moveTo>
                  <a:pt x="0" y="0"/>
                </a:moveTo>
                <a:lnTo>
                  <a:pt x="4316431" y="0"/>
                </a:lnTo>
                <a:lnTo>
                  <a:pt x="4316431" y="6143449"/>
                </a:lnTo>
                <a:lnTo>
                  <a:pt x="0" y="6143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836861" y="8211194"/>
            <a:ext cx="4154377" cy="582587"/>
            <a:chOff x="0" y="0"/>
            <a:chExt cx="5539169" cy="7767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39232" cy="776732"/>
            </a:xfrm>
            <a:custGeom>
              <a:avLst/>
              <a:gdLst/>
              <a:ahLst/>
              <a:cxnLst/>
              <a:rect r="r" b="b" t="t" l="l"/>
              <a:pathLst>
                <a:path h="776732" w="5539232">
                  <a:moveTo>
                    <a:pt x="0" y="0"/>
                  </a:moveTo>
                  <a:lnTo>
                    <a:pt x="5539232" y="0"/>
                  </a:lnTo>
                  <a:lnTo>
                    <a:pt x="5539232" y="776732"/>
                  </a:lnTo>
                  <a:lnTo>
                    <a:pt x="0" y="77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606" r="1" b="-206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201579" y="1228107"/>
            <a:ext cx="788484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9489" y="4546076"/>
            <a:ext cx="5317005" cy="36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</a:pPr>
            <a:r>
              <a:rPr lang="en-US" sz="2985" spc="-5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Using connectionless UDP sockets allows the server to stream multimedia files in chunks without waiting for acknowledgments, enabling real-time streaming.</a:t>
            </a:r>
          </a:p>
          <a:p>
            <a:pPr algn="ctr">
              <a:lnSpc>
                <a:spcPts val="41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16016" y="2513412"/>
            <a:ext cx="3445571" cy="9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sz="2732" b="true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Effici</a:t>
            </a:r>
            <a:r>
              <a:rPr lang="en-US" sz="2732" b="true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ent Streaming with UDP: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3704" y="4259807"/>
            <a:ext cx="5280690" cy="360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</a:p>
          <a:p>
            <a:pPr algn="ctr">
              <a:lnSpc>
                <a:spcPts val="4073"/>
              </a:lnSpc>
            </a:pPr>
            <a:r>
              <a:rPr lang="en-US" sz="2909" spc="-57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The client can start playing the media once enough data is buffered, demonstrating how partial data reception supports smooth streaming.</a:t>
            </a:r>
          </a:p>
          <a:p>
            <a:pPr algn="ctr">
              <a:lnSpc>
                <a:spcPts val="407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168554" y="2426226"/>
            <a:ext cx="3490991" cy="147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sz="2732" b="true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Simul</a:t>
            </a:r>
            <a:r>
              <a:rPr lang="en-US" sz="2732" b="true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taneous Download and Playback: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2775" y="2972471"/>
            <a:ext cx="11622449" cy="274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00"/>
              </a:lnSpc>
            </a:pPr>
            <a:r>
              <a:rPr lang="en-US" sz="1435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49983" y="6705826"/>
            <a:ext cx="9788034" cy="95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1"/>
              </a:lnSpc>
            </a:pPr>
            <a:r>
              <a:rPr lang="en-US" b="true" sz="4508" spc="-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ANY QUESTION?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DAG5I4loeoQ</dc:identifier>
  <dcterms:modified xsi:type="dcterms:W3CDTF">2011-08-01T06:04:30Z</dcterms:modified>
  <cp:revision>1</cp:revision>
  <dc:title>Swarna_mam_presentation</dc:title>
</cp:coreProperties>
</file>